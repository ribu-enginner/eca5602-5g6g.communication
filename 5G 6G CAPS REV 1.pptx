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3" r:id="rId4"/>
    <p:sldId id="278" r:id="rId5"/>
    <p:sldId id="284" r:id="rId6"/>
    <p:sldId id="289" r:id="rId7"/>
    <p:sldId id="285" r:id="rId8"/>
    <p:sldId id="273" r:id="rId9"/>
    <p:sldId id="271" r:id="rId10"/>
    <p:sldId id="280" r:id="rId11"/>
    <p:sldId id="287" r:id="rId12"/>
    <p:sldId id="288" r:id="rId13"/>
    <p:sldId id="286" r:id="rId14"/>
    <p:sldId id="282" r:id="rId15"/>
    <p:sldId id="281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bukambar2009@outlook.com" userId="204cc2abc7b504c9" providerId="LiveId" clId="{425C5423-0CF2-421B-9F6A-F65A3422D9D4}"/>
    <pc:docChg chg="custSel modSld">
      <pc:chgData name="ribukambar2009@outlook.com" userId="204cc2abc7b504c9" providerId="LiveId" clId="{425C5423-0CF2-421B-9F6A-F65A3422D9D4}" dt="2026-10-21T00:03:57.312" v="293" actId="20577"/>
      <pc:docMkLst>
        <pc:docMk/>
      </pc:docMkLst>
      <pc:sldChg chg="modSp mod">
        <pc:chgData name="ribukambar2009@outlook.com" userId="204cc2abc7b504c9" providerId="LiveId" clId="{425C5423-0CF2-421B-9F6A-F65A3422D9D4}" dt="2026-10-21T00:03:57.312" v="293" actId="20577"/>
        <pc:sldMkLst>
          <pc:docMk/>
          <pc:sldMk cId="2392413283" sldId="256"/>
        </pc:sldMkLst>
        <pc:spChg chg="mod">
          <ac:chgData name="ribukambar2009@outlook.com" userId="204cc2abc7b504c9" providerId="LiveId" clId="{425C5423-0CF2-421B-9F6A-F65A3422D9D4}" dt="2026-10-21T00:03:57.312" v="293" actId="20577"/>
          <ac:spMkLst>
            <pc:docMk/>
            <pc:sldMk cId="2392413283" sldId="256"/>
            <ac:spMk id="3" creationId="{F4F79280-E1EA-5476-248A-0DCCB368986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6C0D-1DC6-AE77-9223-731E598B9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E9251-6352-9CCF-2671-48CB14C6E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72FD-0305-1431-EABF-E81584B2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13FBE-55A1-F0C6-3D9F-ED72563B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75B0A-E202-35C2-6FBF-C5D644B5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87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6097-4634-5C0B-09A3-F35C2D76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6F33-3A2A-B08A-09BD-3F08595DF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5538-1CA7-52DE-2585-EB50E72E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9D385-EC79-C63E-D9CE-AC6B0992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6D327-6A96-59DF-9F1E-D264F0B0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64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1F99-6650-1CAE-62F2-10438B2A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FED9A-246E-8995-3559-F6D86AF66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3DE49-13AB-848C-2D59-AF1549A0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E5689-7DB5-B3FC-903C-3FB54A7C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293A-00BF-13CD-1549-E562729D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0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E8D9-84F8-D2AB-862C-767254C69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66712-2AA8-8C14-C3FE-CC2CBB211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C2838-90F0-4149-A211-7F9A90870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126A4-8F03-FA39-99C0-5148523C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7D50A-E6EB-3320-BAC5-8F98690C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C981A-FE40-B5C9-1ED3-57E71A50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00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5D30-BCAF-FB45-F102-FB1540607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55696-B7B1-A741-F674-9BD802FE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B18C0-0817-8A06-B293-7331F3EBA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9AEBD-0987-5EEF-0772-390464F7F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F626B-FA13-E23B-3710-A7CFFE6A1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6CCF8-3B3A-E2F4-81B6-B6FC11BF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8D7C4-32C4-7FE9-46E8-F6A8E53AE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0F331-D8E4-4623-2A9C-73DD3B60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8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635F-B440-C7A7-8A08-86E2CCCF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A5050-42CF-EA25-0776-4DB99317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C49BB-EE23-D312-693F-3D7B5F63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EA357-1E13-DF1B-1A04-972FC2AB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40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0068A-A78E-63E0-BC92-E0F1E015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BD86FA-E75E-61CA-9EE0-75D44FB4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E8E4-1378-709E-92D9-5C1742EB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32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A225-0B28-DD0A-7590-FB85B9C4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6295-1888-EDD4-27B7-6FF6C0531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B4BF1-0F48-7497-605F-BA6F0B02E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4069A-1E96-BC90-72F5-3100DF025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1D8C8-0F43-AB00-4B50-BF1B30E7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31ED8-AA08-143C-FF80-B36E2A24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03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6327-5629-B4DD-FE50-FC652F03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63CBBA-AA4B-2468-A9D9-B7042EB58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98775-C795-3B8F-B1AD-67C6EED0A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5ACA4-6265-EB26-073E-90B4BBF4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3CD5B-345E-9755-A808-68F5F64F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C9C27-E825-7AC2-04E9-AB6FDE22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9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71E0-E810-1420-4261-705C03A8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F5B52-6F14-0501-6B14-90C23844E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5E1BA-1D28-4D10-A17D-5DE87DA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DE271-93FE-7446-5A40-5E5A3457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C3CAD-0910-E986-CD8C-FA32D48A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3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A23A1-5A89-77E9-ACAA-2400E8132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8473A-5E6F-6E7A-9919-54E7619BD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FB7C2-2D4D-BC9C-B003-82A04B0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29FE-9AD9-8D5A-0862-811179A3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82874-8961-AEBB-0BB2-B5375025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2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7D2F5-1FC9-61D0-579C-316248B9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7F48C-F0D9-009C-5B66-988D8DFB5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8C699-6E4B-97CF-A0FB-F7EF8321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59835-03B1-43FE-9C4D-F1B66B9357C4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06B43-6B2F-1C58-6E1E-CD1B46E7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8E79-781D-28C1-096E-68D1F1712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E0A4A-DFEE-4E03-B8E6-DA5CAF2C1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84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F79280-E1EA-5476-248A-0DCCB3689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71" y="1978701"/>
            <a:ext cx="10851458" cy="4763569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IOT-BASED ENERGY-EFFICIENT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BUILDING AUTOMATION SYSTEM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ESP32 AND IOT-BASED CONNECTIVITY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ECA5604 – 5G/6G Communication Systems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   GUIDED BY: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R.K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RIBU  (19122260359)                             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CE57E11D-4533-C38E-E919-BD984E267B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381" y="332858"/>
            <a:ext cx="9950245" cy="1223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241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0;p1" descr="SSE-Computer Science and Engineering">
            <a:extLst>
              <a:ext uri="{FF2B5EF4-FFF2-40B4-BE49-F238E27FC236}">
                <a16:creationId xmlns:a16="http://schemas.microsoft.com/office/drawing/2014/main" id="{2608482B-446A-3933-F6D1-8F52FFA28D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95210"/>
            <a:ext cx="10515600" cy="12501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A0708A-D6F7-B80B-45DF-7F614B6864DC}"/>
              </a:ext>
            </a:extLst>
          </p:cNvPr>
          <p:cNvSpPr txBox="1"/>
          <p:nvPr/>
        </p:nvSpPr>
        <p:spPr>
          <a:xfrm>
            <a:off x="838200" y="2503358"/>
            <a:ext cx="6610663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building system for automatic energy management.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ESP32 and IoT technology.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room conditions using sensors.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controls electrical loads.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2">
            <a:extLst>
              <a:ext uri="{FF2B5EF4-FFF2-40B4-BE49-F238E27FC236}">
                <a16:creationId xmlns:a16="http://schemas.microsoft.com/office/drawing/2014/main" id="{90E591F8-E77E-2562-51DE-96FB2A3D02B5}"/>
              </a:ext>
            </a:extLst>
          </p:cNvPr>
          <p:cNvPicPr/>
          <p:nvPr/>
        </p:nvPicPr>
        <p:blipFill>
          <a:blip r:embed="rId3" cstate="print"/>
          <a:srcRect l="4153" t="22095" r="74863" b="53600"/>
          <a:stretch>
            <a:fillRect/>
          </a:stretch>
        </p:blipFill>
        <p:spPr>
          <a:xfrm>
            <a:off x="8520661" y="2503358"/>
            <a:ext cx="2833140" cy="2023672"/>
          </a:xfrm>
          <a:prstGeom prst="rect">
            <a:avLst/>
          </a:prstGeom>
        </p:spPr>
      </p:pic>
      <p:pic>
        <p:nvPicPr>
          <p:cNvPr id="15" name="object 2">
            <a:extLst>
              <a:ext uri="{FF2B5EF4-FFF2-40B4-BE49-F238E27FC236}">
                <a16:creationId xmlns:a16="http://schemas.microsoft.com/office/drawing/2014/main" id="{12B9B9B9-8917-23F9-091D-F1653EB976F6}"/>
              </a:ext>
            </a:extLst>
          </p:cNvPr>
          <p:cNvPicPr/>
          <p:nvPr/>
        </p:nvPicPr>
        <p:blipFill>
          <a:blip r:embed="rId3" cstate="print"/>
          <a:srcRect l="50000" t="52696" r="28470" b="19909"/>
          <a:stretch>
            <a:fillRect/>
          </a:stretch>
        </p:blipFill>
        <p:spPr>
          <a:xfrm>
            <a:off x="8520661" y="4625674"/>
            <a:ext cx="2833139" cy="20236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847BD8A-365C-3F7B-31EE-11F95C182F30}"/>
              </a:ext>
            </a:extLst>
          </p:cNvPr>
          <p:cNvSpPr txBox="1"/>
          <p:nvPr/>
        </p:nvSpPr>
        <p:spPr>
          <a:xfrm>
            <a:off x="4572000" y="1673784"/>
            <a:ext cx="3672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1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B08F-E43A-F70E-CF7B-F82BE90E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FFD5DE-48E7-691C-7149-6409412C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917" y="1465481"/>
            <a:ext cx="4313903" cy="80892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60;p1" descr="SSE-Computer Science and Engineering">
            <a:extLst>
              <a:ext uri="{FF2B5EF4-FFF2-40B4-BE49-F238E27FC236}">
                <a16:creationId xmlns:a16="http://schemas.microsoft.com/office/drawing/2014/main" id="{3CEC270F-CC31-62EC-1974-743BCF4EF4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95210"/>
            <a:ext cx="10515600" cy="12501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A7F491-ABE9-EE43-92B9-81906659F849}"/>
              </a:ext>
            </a:extLst>
          </p:cNvPr>
          <p:cNvSpPr txBox="1"/>
          <p:nvPr/>
        </p:nvSpPr>
        <p:spPr>
          <a:xfrm>
            <a:off x="104959" y="2413417"/>
            <a:ext cx="761497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causes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energy consumption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Lights and fans may remain ON when not required.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makes energy management difficult.</a:t>
            </a:r>
          </a:p>
        </p:txBody>
      </p:sp>
      <p:pic>
        <p:nvPicPr>
          <p:cNvPr id="7" name="Picture 4" descr="Research Objectives - Types, Examples and Writing Guide">
            <a:extLst>
              <a:ext uri="{FF2B5EF4-FFF2-40B4-BE49-F238E27FC236}">
                <a16:creationId xmlns:a16="http://schemas.microsoft.com/office/drawing/2014/main" id="{041ADEC9-5C97-91E3-89B6-946162F37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874" y="2646142"/>
            <a:ext cx="3927395" cy="321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07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44898-3B28-5109-40D6-8AE8FBC5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27D8-AE0B-28E1-F745-E314EFB2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622"/>
            <a:ext cx="10515600" cy="6718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643CA965-8B80-0F37-A919-9C02C228CE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871" y="151433"/>
            <a:ext cx="10515600" cy="11714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ED4E9E-6760-DC19-EB6A-3A9828A24B8B}"/>
              </a:ext>
            </a:extLst>
          </p:cNvPr>
          <p:cNvSpPr txBox="1"/>
          <p:nvPr/>
        </p:nvSpPr>
        <p:spPr>
          <a:xfrm>
            <a:off x="614596" y="2164491"/>
            <a:ext cx="6925456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causes unnecessary energy consumption.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Lights and fans may remain ON when not required.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makes energy management difficult.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15B06566-D88A-3FFD-B2F9-92AAB11EE03C}"/>
              </a:ext>
            </a:extLst>
          </p:cNvPr>
          <p:cNvPicPr/>
          <p:nvPr/>
        </p:nvPicPr>
        <p:blipFill>
          <a:blip r:embed="rId3" cstate="print"/>
          <a:srcRect l="51858" t="20346" r="31066" b="60419"/>
          <a:stretch>
            <a:fillRect/>
          </a:stretch>
        </p:blipFill>
        <p:spPr>
          <a:xfrm>
            <a:off x="7974769" y="2448224"/>
            <a:ext cx="3602635" cy="2528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AEA1EA-F603-6C27-8ADA-9EBA233D6D08}"/>
              </a:ext>
            </a:extLst>
          </p:cNvPr>
          <p:cNvSpPr txBox="1"/>
          <p:nvPr/>
        </p:nvSpPr>
        <p:spPr>
          <a:xfrm>
            <a:off x="479504" y="5086780"/>
            <a:ext cx="7660157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energy consumption through intelligent, automatic, and real-time building control.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 descr="Research Objectives - Types, Examples and Writing Guide">
            <a:extLst>
              <a:ext uri="{FF2B5EF4-FFF2-40B4-BE49-F238E27FC236}">
                <a16:creationId xmlns:a16="http://schemas.microsoft.com/office/drawing/2014/main" id="{65CFDE67-8948-E223-55DF-8BE7A2AA18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7"/>
          <a:stretch>
            <a:fillRect/>
          </a:stretch>
        </p:blipFill>
        <p:spPr bwMode="auto">
          <a:xfrm>
            <a:off x="7101456" y="5370513"/>
            <a:ext cx="1746625" cy="134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21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6A5B-7BF6-371C-935F-EF42E6E9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3FB7-F3D5-8E78-6E77-054A05DC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622"/>
            <a:ext cx="10515600" cy="6718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the Project Performs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06868B11-2D7C-DF22-AC51-B14BC95065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871" y="151433"/>
            <a:ext cx="10515600" cy="117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493936-4EF3-76E2-6EAE-1908FFC46264}"/>
              </a:ext>
            </a:extLst>
          </p:cNvPr>
          <p:cNvSpPr txBox="1"/>
          <p:nvPr/>
        </p:nvSpPr>
        <p:spPr>
          <a:xfrm>
            <a:off x="838200" y="2354249"/>
            <a:ext cx="7811122" cy="3357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Detection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Processing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Load Control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1" t="21220" r="83810" b="60711"/>
          <a:stretch>
            <a:fillRect/>
          </a:stretch>
        </p:blipFill>
        <p:spPr>
          <a:xfrm>
            <a:off x="7553528" y="2114160"/>
            <a:ext cx="1621967" cy="1478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17" t="21220" r="52904" b="60711"/>
          <a:stretch>
            <a:fillRect/>
          </a:stretch>
        </p:blipFill>
        <p:spPr>
          <a:xfrm>
            <a:off x="9179952" y="2114159"/>
            <a:ext cx="1133274" cy="1478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713" t="20637" r="28903" b="61293"/>
          <a:stretch>
            <a:fillRect/>
          </a:stretch>
        </p:blipFill>
        <p:spPr>
          <a:xfrm>
            <a:off x="10313226" y="2114158"/>
            <a:ext cx="1040574" cy="1478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9" t="66976" r="81344" b="14372"/>
          <a:stretch>
            <a:fillRect/>
          </a:stretch>
        </p:blipFill>
        <p:spPr>
          <a:xfrm>
            <a:off x="7553528" y="4172322"/>
            <a:ext cx="1400823" cy="1303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82" t="66102" r="54383" b="15829"/>
          <a:stretch>
            <a:fillRect/>
          </a:stretch>
        </p:blipFill>
        <p:spPr>
          <a:xfrm>
            <a:off x="8954351" y="4172321"/>
            <a:ext cx="1226429" cy="1303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49271-1641-AF8E-E03C-A0E90ECA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57" t="65228" r="26766" b="12331"/>
          <a:stretch>
            <a:fillRect/>
          </a:stretch>
        </p:blipFill>
        <p:spPr>
          <a:xfrm>
            <a:off x="10180780" y="4172319"/>
            <a:ext cx="1133274" cy="13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D0ED7-F1EC-27FB-F5D6-BD86CC57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54C55-12C5-3854-AD12-C12963C2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0"/>
            <a:ext cx="10515600" cy="67182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65ABB67F-6567-FE4B-366A-385F995F2F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871" y="151433"/>
            <a:ext cx="10290929" cy="80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487D3B69-7D35-ADBB-FE45-00A9DC94D9F2}"/>
              </a:ext>
            </a:extLst>
          </p:cNvPr>
          <p:cNvPicPr/>
          <p:nvPr/>
        </p:nvPicPr>
        <p:blipFill>
          <a:blip r:embed="rId3" cstate="print"/>
          <a:srcRect l="5301" t="18617" r="5519" b="7669"/>
          <a:stretch>
            <a:fillRect/>
          </a:stretch>
        </p:blipFill>
        <p:spPr>
          <a:xfrm>
            <a:off x="1228477" y="1998453"/>
            <a:ext cx="9959715" cy="433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8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8344-D0B3-70AA-5C84-78261988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BCCB-E920-5D48-697F-BBB12E2A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7514"/>
            <a:ext cx="10515600" cy="67182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REQUIRED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C9B35501-D9E3-5550-F232-7DB7866208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871" y="151433"/>
            <a:ext cx="10515600" cy="117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AAF470-EE1C-FA23-D445-FFB9835ED4CB}"/>
              </a:ext>
            </a:extLst>
          </p:cNvPr>
          <p:cNvSpPr txBox="1"/>
          <p:nvPr/>
        </p:nvSpPr>
        <p:spPr>
          <a:xfrm>
            <a:off x="731577" y="2130772"/>
            <a:ext cx="4153525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ESP32 Development Board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IR Sensor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DHT11 Sensor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LDR Sensor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Relay Module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LED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5V Power Supply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Breadboard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Connecting Wires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7" name="Picture 6" descr="ESP32 ESP32 802.11 b/g/n (WiFi/WLAN/Wi-Fi 4), Bluetooth® Smart Ready 4.x Dual Mode (BLE) Transceiver 2.4GHz Evaluation Board">
            <a:extLst>
              <a:ext uri="{FF2B5EF4-FFF2-40B4-BE49-F238E27FC236}">
                <a16:creationId xmlns:a16="http://schemas.microsoft.com/office/drawing/2014/main" id="{3146F557-F468-4CA7-2CA4-D255B514F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791" y="2330346"/>
            <a:ext cx="1905000" cy="1905000"/>
          </a:xfrm>
          <a:prstGeom prst="rect">
            <a:avLst/>
          </a:prstGeom>
        </p:spPr>
      </p:pic>
      <p:pic>
        <p:nvPicPr>
          <p:cNvPr id="8" name="Picture 7" descr="Infrared (IR) Sensor Platform Evaluation Expansion Board">
            <a:extLst>
              <a:ext uri="{FF2B5EF4-FFF2-40B4-BE49-F238E27FC236}">
                <a16:creationId xmlns:a16="http://schemas.microsoft.com/office/drawing/2014/main" id="{FD097475-C5FE-C3B3-8961-011300EA7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041" y="2330346"/>
            <a:ext cx="1905000" cy="1905000"/>
          </a:xfrm>
          <a:prstGeom prst="rect">
            <a:avLst/>
          </a:prstGeom>
        </p:spPr>
      </p:pic>
      <p:pic>
        <p:nvPicPr>
          <p:cNvPr id="11" name="Picture 10" descr="DHT11 Humidity, Temperature Sensor Arduino, Gravity Platform Evaluation Expansion Board">
            <a:extLst>
              <a:ext uri="{FF2B5EF4-FFF2-40B4-BE49-F238E27FC236}">
                <a16:creationId xmlns:a16="http://schemas.microsoft.com/office/drawing/2014/main" id="{A038B44B-0B8E-FBCC-848F-7F8DA50AF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299" y="2556976"/>
            <a:ext cx="1566795" cy="15667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CA8B26-E5C1-D01C-0B59-A0FCDE8046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40" y="3862037"/>
            <a:ext cx="1553251" cy="1553251"/>
          </a:xfrm>
          <a:prstGeom prst="rect">
            <a:avLst/>
          </a:prstGeom>
        </p:spPr>
      </p:pic>
      <p:pic>
        <p:nvPicPr>
          <p:cNvPr id="16" name="Picture 15" descr="1 Channel 5V Relay Module with Optocoupler Isolation Relay Single-chip ...">
            <a:extLst>
              <a:ext uri="{FF2B5EF4-FFF2-40B4-BE49-F238E27FC236}">
                <a16:creationId xmlns:a16="http://schemas.microsoft.com/office/drawing/2014/main" id="{697C8965-4CC0-8034-EF4A-740BA16EB8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135" y="4062399"/>
            <a:ext cx="1152525" cy="1152525"/>
          </a:xfrm>
          <a:prstGeom prst="rect">
            <a:avLst/>
          </a:prstGeom>
        </p:spPr>
      </p:pic>
      <p:pic>
        <p:nvPicPr>
          <p:cNvPr id="17" name="Picture 16" descr="LED4">
            <a:extLst>
              <a:ext uri="{FF2B5EF4-FFF2-40B4-BE49-F238E27FC236}">
                <a16:creationId xmlns:a16="http://schemas.microsoft.com/office/drawing/2014/main" id="{5244BC8F-E3EF-10E6-E5AE-1AFD5886A74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0828" b="52343"/>
          <a:stretch>
            <a:fillRect/>
          </a:stretch>
        </p:blipFill>
        <p:spPr>
          <a:xfrm>
            <a:off x="9984229" y="4461410"/>
            <a:ext cx="834140" cy="6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5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B34B-BA83-E04A-D048-2C17B067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94" y="1530965"/>
            <a:ext cx="11753009" cy="658070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Google Shape;60;p1" descr="SSE-Computer Science and Engineering">
            <a:extLst>
              <a:ext uri="{FF2B5EF4-FFF2-40B4-BE49-F238E27FC236}">
                <a16:creationId xmlns:a16="http://schemas.microsoft.com/office/drawing/2014/main" id="{3E739B87-D27B-AE1D-A9B2-79B317A3A7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95210"/>
            <a:ext cx="10515600" cy="125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EBC3E4-EC4F-F073-9CF0-8B606A8E3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62" y="2274659"/>
            <a:ext cx="9638675" cy="434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2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36B0-5F86-BAE1-3C5A-13BBB480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159656"/>
            <a:ext cx="11353800" cy="1092631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COLLECTION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EABD56-3DF8-DE53-58F8-9C9764BDFB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834" y="2409788"/>
            <a:ext cx="6480574" cy="410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1 – Outside door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2 – Inside door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– Temperature &amp; humidity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– Light level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sensor information.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all readings to the ESP32.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input data required for automation.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FDACE8A5-DC5A-0682-0FE5-87E19DE5C3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E2333-EEE9-51D4-B124-B941385E9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6" t="37542" r="58973" b="8542"/>
          <a:stretch>
            <a:fillRect/>
          </a:stretch>
        </p:blipFill>
        <p:spPr>
          <a:xfrm>
            <a:off x="7195280" y="2572597"/>
            <a:ext cx="4414886" cy="353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4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71B4-9AAA-ACEC-D864-302E7E7C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1D0D-5C32-683B-C7AC-C3E2B551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19" y="1250132"/>
            <a:ext cx="11353800" cy="77407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ENERGY CONTROL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A971CB-9421-ADC0-00B6-166F6C2BA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81" y="1826879"/>
            <a:ext cx="9180053" cy="5031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controls lighting and fan based on room conditions.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energy consumption.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Count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Light Level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Temperature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Count &gt; 0 + Dark → LED 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Count &gt; 0 + Temperature &gt; 29°C → Fan 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→ Loads OFF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22ACC747-1857-AF73-72C3-3F030CDA61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object 2">
            <a:extLst>
              <a:ext uri="{FF2B5EF4-FFF2-40B4-BE49-F238E27FC236}">
                <a16:creationId xmlns:a16="http://schemas.microsoft.com/office/drawing/2014/main" id="{DC5CCF09-FBDE-E11E-9011-FC1F945DD923}"/>
              </a:ext>
            </a:extLst>
          </p:cNvPr>
          <p:cNvPicPr/>
          <p:nvPr/>
        </p:nvPicPr>
        <p:blipFill>
          <a:blip r:embed="rId3" cstate="print"/>
          <a:srcRect l="18907" t="33900" r="32568" b="26321"/>
          <a:stretch>
            <a:fillRect/>
          </a:stretch>
        </p:blipFill>
        <p:spPr>
          <a:xfrm>
            <a:off x="7824866" y="3429000"/>
            <a:ext cx="3807502" cy="260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552C-7808-B4C1-CFFC-BF8A54AE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FE4A-3E83-5257-C5AA-DE470865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19" y="1250132"/>
            <a:ext cx="11353800" cy="77407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DETECTION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8CB862-541F-3BAB-6D57-B3EAD97DF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774" y="2024207"/>
            <a:ext cx="7659974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whether people are entering or leaving the room.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current visitor count.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1 – Outside the door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 2 – Inside the door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IR1 → IR2 = Entry → Count increases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IR2 → IR1 = Exit → Count decreases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continuously updates the visitor count.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DB093DA7-F2EA-6AAD-953F-2B6A09439F6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4933D-D9BD-BB92-B473-5A87E0898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78" t="37738" r="24327" b="28360"/>
          <a:stretch>
            <a:fillRect/>
          </a:stretch>
        </p:blipFill>
        <p:spPr>
          <a:xfrm>
            <a:off x="6096000" y="3274339"/>
            <a:ext cx="5741232" cy="20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19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9DB6-4996-E3D1-5429-CE2868C1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4FAC2-B799-26FE-4D0A-555FC716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19" y="1250132"/>
            <a:ext cx="11353800" cy="77407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COMMUNICATION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C29890-DAFF-7BB0-38E1-4310EB0E80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8781" y="1955120"/>
            <a:ext cx="6706675" cy="431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wireless communication using the ESP32's built-in Wi-Fi.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sensor and system data for remote monitoring.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Visitor Count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&amp; Humidity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Level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and Fan Status 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5AC4DE00-63DD-10B7-FB00-7B3B98D397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A62615-83E8-EF18-B22F-8542BCB06AD3}"/>
              </a:ext>
            </a:extLst>
          </p:cNvPr>
          <p:cNvSpPr txBox="1"/>
          <p:nvPr/>
        </p:nvSpPr>
        <p:spPr>
          <a:xfrm>
            <a:off x="7141389" y="2024207"/>
            <a:ext cx="48418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collects and processes the sensor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connects the ESP32 to the network.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the Thing Speak Cloud API and Local Web Dashboard.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A3EB9094-17B0-97A8-95EA-190EFA453092}"/>
              </a:ext>
            </a:extLst>
          </p:cNvPr>
          <p:cNvPicPr/>
          <p:nvPr/>
        </p:nvPicPr>
        <p:blipFill>
          <a:blip r:embed="rId3" cstate="print"/>
          <a:srcRect l="34154" t="26467" r="36547" b="19034"/>
          <a:stretch>
            <a:fillRect/>
          </a:stretch>
        </p:blipFill>
        <p:spPr>
          <a:xfrm>
            <a:off x="4575035" y="4002375"/>
            <a:ext cx="2458387" cy="261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8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F1FE-727B-A789-6F72-CC4B2D19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0;p1" descr="SSE-Computer Science and Engineering">
            <a:extLst>
              <a:ext uri="{FF2B5EF4-FFF2-40B4-BE49-F238E27FC236}">
                <a16:creationId xmlns:a16="http://schemas.microsoft.com/office/drawing/2014/main" id="{2FC8E9E8-5799-1541-7776-5A0BE6E35C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871" y="151433"/>
            <a:ext cx="10515600" cy="117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6C358D-8299-23B8-D65E-842B4C0C7FEE}"/>
              </a:ext>
            </a:extLst>
          </p:cNvPr>
          <p:cNvSpPr txBox="1"/>
          <p:nvPr/>
        </p:nvSpPr>
        <p:spPr>
          <a:xfrm>
            <a:off x="1062872" y="1563798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DISPLAY MODULE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845B4-A7B9-0E05-D8CA-AA8503CA5628}"/>
              </a:ext>
            </a:extLst>
          </p:cNvPr>
          <p:cNvSpPr txBox="1"/>
          <p:nvPr/>
        </p:nvSpPr>
        <p:spPr>
          <a:xfrm>
            <a:off x="284814" y="2389464"/>
            <a:ext cx="71203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real-time status of the smart building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user monitor room conditions remotely.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Displayed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528E-654C-F563-ADEB-33D7DB6A98AA}"/>
              </a:ext>
            </a:extLst>
          </p:cNvPr>
          <p:cNvSpPr txBox="1"/>
          <p:nvPr/>
        </p:nvSpPr>
        <p:spPr>
          <a:xfrm>
            <a:off x="7365167" y="2389464"/>
            <a:ext cx="47868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Working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ESP32 collects and processes sensor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Processed data is sent through Wi-Fi.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 is displayed on the Local Web Dashboard. </a:t>
            </a:r>
          </a:p>
          <a:p>
            <a:endParaRPr lang="en-IN" sz="2400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1FB20341-D526-11FD-7C66-10DA7E89C10B}"/>
              </a:ext>
            </a:extLst>
          </p:cNvPr>
          <p:cNvPicPr/>
          <p:nvPr/>
        </p:nvPicPr>
        <p:blipFill>
          <a:blip r:embed="rId3" cstate="print"/>
          <a:srcRect l="34645" t="26399" r="35683"/>
          <a:stretch>
            <a:fillRect/>
          </a:stretch>
        </p:blipFill>
        <p:spPr>
          <a:xfrm>
            <a:off x="4407108" y="3999375"/>
            <a:ext cx="2758190" cy="270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26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B169-077A-60DC-A7E3-DD1C422C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05BF-89C1-4311-4C84-9AFE6C39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19" y="1250132"/>
            <a:ext cx="11353800" cy="7740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KEY ADVANTAGES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4AB99BA3-C4AC-88FE-84CE-F1506B37FE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A6E097-C68F-818C-01FA-0186D06B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9" t="11147" r="1573" b="3585"/>
          <a:stretch>
            <a:fillRect/>
          </a:stretch>
        </p:blipFill>
        <p:spPr>
          <a:xfrm>
            <a:off x="838200" y="1933730"/>
            <a:ext cx="10259517" cy="49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00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8712-099F-20D1-D278-95F9D36B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2D9F-FD7A-9A91-E91B-EA3EF130E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66" y="1225326"/>
            <a:ext cx="11353800" cy="7740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Google Shape;60;p1" descr="SSE-Computer Science and Engineering">
            <a:extLst>
              <a:ext uri="{FF2B5EF4-FFF2-40B4-BE49-F238E27FC236}">
                <a16:creationId xmlns:a16="http://schemas.microsoft.com/office/drawing/2014/main" id="{64B8CCFA-48C6-1E1A-DDF7-238FAC9283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10515600" cy="12501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3CFA21-6886-1B1A-A3AA-D8ED69E24029}"/>
              </a:ext>
            </a:extLst>
          </p:cNvPr>
          <p:cNvSpPr txBox="1"/>
          <p:nvPr/>
        </p:nvSpPr>
        <p:spPr>
          <a:xfrm>
            <a:off x="223234" y="1999401"/>
            <a:ext cx="498280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enables smart and automatic energy management.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 provide accurate visitor counting.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and LDR enable condition-based control.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connectivity provides real-time monitoring and data logging.</a:t>
            </a:r>
          </a:p>
        </p:txBody>
      </p:sp>
      <p:grpSp>
        <p:nvGrpSpPr>
          <p:cNvPr id="5" name="object 2">
            <a:extLst>
              <a:ext uri="{FF2B5EF4-FFF2-40B4-BE49-F238E27FC236}">
                <a16:creationId xmlns:a16="http://schemas.microsoft.com/office/drawing/2014/main" id="{4989667C-142F-72F4-3E2C-605C2FB378AD}"/>
              </a:ext>
            </a:extLst>
          </p:cNvPr>
          <p:cNvGrpSpPr/>
          <p:nvPr/>
        </p:nvGrpSpPr>
        <p:grpSpPr>
          <a:xfrm>
            <a:off x="5631305" y="2173574"/>
            <a:ext cx="6096000" cy="3987383"/>
            <a:chOff x="1145925" y="1316324"/>
            <a:chExt cx="7059190" cy="3074151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978ED4E8-2BC9-5641-887A-A2B6979EFA9B}"/>
                </a:ext>
              </a:extLst>
            </p:cNvPr>
            <p:cNvPicPr/>
            <p:nvPr/>
          </p:nvPicPr>
          <p:blipFill>
            <a:blip r:embed="rId3" cstate="print"/>
            <a:srcRect l="11470" t="24054" r="9100" b="12414"/>
            <a:stretch>
              <a:fillRect/>
            </a:stretch>
          </p:blipFill>
          <p:spPr>
            <a:xfrm>
              <a:off x="1145925" y="1316324"/>
              <a:ext cx="6880485" cy="3074151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9B457BBE-6AFC-E0BE-CD9A-D08C58707885}"/>
                </a:ext>
              </a:extLst>
            </p:cNvPr>
            <p:cNvSpPr/>
            <p:nvPr/>
          </p:nvSpPr>
          <p:spPr>
            <a:xfrm>
              <a:off x="7900950" y="4072975"/>
              <a:ext cx="304165" cy="317500"/>
            </a:xfrm>
            <a:custGeom>
              <a:avLst/>
              <a:gdLst/>
              <a:ahLst/>
              <a:cxnLst/>
              <a:rect l="l" t="t" r="r" b="b"/>
              <a:pathLst>
                <a:path w="304165" h="317500">
                  <a:moveTo>
                    <a:pt x="303599" y="317099"/>
                  </a:moveTo>
                  <a:lnTo>
                    <a:pt x="0" y="317099"/>
                  </a:lnTo>
                  <a:lnTo>
                    <a:pt x="0" y="0"/>
                  </a:lnTo>
                  <a:lnTo>
                    <a:pt x="303599" y="0"/>
                  </a:lnTo>
                  <a:lnTo>
                    <a:pt x="303599" y="317099"/>
                  </a:lnTo>
                  <a:close/>
                </a:path>
              </a:pathLst>
            </a:custGeom>
            <a:solidFill>
              <a:srgbClr val="010510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DC02FE6E-F8DC-7BF1-9D38-F8A65B6BBD14}"/>
                </a:ext>
              </a:extLst>
            </p:cNvPr>
            <p:cNvSpPr/>
            <p:nvPr/>
          </p:nvSpPr>
          <p:spPr>
            <a:xfrm>
              <a:off x="7900950" y="4072975"/>
              <a:ext cx="304165" cy="317500"/>
            </a:xfrm>
            <a:custGeom>
              <a:avLst/>
              <a:gdLst/>
              <a:ahLst/>
              <a:cxnLst/>
              <a:rect l="l" t="t" r="r" b="b"/>
              <a:pathLst>
                <a:path w="304165" h="317500">
                  <a:moveTo>
                    <a:pt x="0" y="0"/>
                  </a:moveTo>
                  <a:lnTo>
                    <a:pt x="303599" y="0"/>
                  </a:lnTo>
                  <a:lnTo>
                    <a:pt x="303599" y="317099"/>
                  </a:lnTo>
                  <a:lnTo>
                    <a:pt x="0" y="317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6356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0;p1" descr="SSE-Computer Science and Engineering">
            <a:extLst>
              <a:ext uri="{FF2B5EF4-FFF2-40B4-BE49-F238E27FC236}">
                <a16:creationId xmlns:a16="http://schemas.microsoft.com/office/drawing/2014/main" id="{AD0091AE-4CAB-7613-5B0C-FDC3C12D30B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95210"/>
            <a:ext cx="10515600" cy="986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8" name="Picture 2" descr="Thank you Images - Free Download on Freepik">
            <a:extLst>
              <a:ext uri="{FF2B5EF4-FFF2-40B4-BE49-F238E27FC236}">
                <a16:creationId xmlns:a16="http://schemas.microsoft.com/office/drawing/2014/main" id="{3C76AA20-073D-6070-151A-B20F7EB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543" y="2166258"/>
            <a:ext cx="7456714" cy="3766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8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508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OBJECTIVES</vt:lpstr>
      <vt:lpstr>PROBLEM STATEMENT</vt:lpstr>
      <vt:lpstr>Tasks the Project Performs</vt:lpstr>
      <vt:lpstr>LITERATURE REVIEW</vt:lpstr>
      <vt:lpstr>COMPONENTS REQUIRED</vt:lpstr>
      <vt:lpstr>SYSTEM ARCHITECTURE</vt:lpstr>
      <vt:lpstr>MODULE 1: SENSOR DATA COLLECTION</vt:lpstr>
      <vt:lpstr>MODULE 2: SMART ENERGY CONTROL MODULE</vt:lpstr>
      <vt:lpstr>MODULE 3: OCCUPANCY DETECTION MODULE</vt:lpstr>
      <vt:lpstr>MODULE 4: Wi-Fi COMMUNICATION MODULE</vt:lpstr>
      <vt:lpstr>PowerPoint Presentation</vt:lpstr>
      <vt:lpstr>IMPORTANCE AND KEY ADVANTAGES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Manjushka Reddy V</dc:creator>
  <cp:lastModifiedBy>ribukambar2009@outlook.com</cp:lastModifiedBy>
  <cp:revision>21</cp:revision>
  <dcterms:created xsi:type="dcterms:W3CDTF">2025-11-03T09:03:25Z</dcterms:created>
  <dcterms:modified xsi:type="dcterms:W3CDTF">2026-10-21T00:04:03Z</dcterms:modified>
</cp:coreProperties>
</file>